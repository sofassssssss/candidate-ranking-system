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C614CC9-8E39-451F-9B6B-7DE86DE2249C}">
  <a:tblStyle styleId="{3C614CC9-8E39-451F-9B6B-7DE86DE2249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fc0350d4d_0_5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dfc0350d4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fc0350d4d_0_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fc0350d4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fc0350d4d_0_2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fc0350d4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fc0350d4d_0_8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fc0350d4d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fc0350d4d_0_9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dfc0350d4d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fc0350d4d_0_8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dfc0350d4d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fc0350d4d_0_13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dfc0350d4d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fc0350d4d_0_14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fc0350d4d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fc0350d4d_0_3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dfc0350d4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2093475fb_0_1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e2093475f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fc0350d4d_0_4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dfc0350d4d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fc0350d4d_0_11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dfc0350d4d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551047d4d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e551047d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e2093475fb_0_2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e2093475f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e551047d4d_0_1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e551047d4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e5e391721d_0_3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e5e391721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dfc0350d4d_0_10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dfc0350d4d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thub.com/Sofassssssss/candidate-ranking-system" TargetMode="External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74750" y="2134400"/>
            <a:ext cx="86790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br>
              <a:rPr lang="ru-RU"/>
            </a:br>
            <a:r>
              <a:rPr lang="ru-RU"/>
              <a:t>Методы кодирования и нахождения размерности упорядоченных множеств</a:t>
            </a:r>
            <a:br>
              <a:rPr lang="ru-RU">
                <a:solidFill>
                  <a:srgbClr val="BCBEC4"/>
                </a:solidFill>
              </a:rPr>
            </a:br>
            <a:r>
              <a:rPr lang="ru-RU"/>
              <a:t>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1800">
                <a:solidFill>
                  <a:srgbClr val="000000"/>
                </a:solidFill>
              </a:rPr>
              <a:t>Выполнила:					Вовченко София Евгеньевна, гр. 2384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1800">
                <a:solidFill>
                  <a:srgbClr val="000000"/>
                </a:solidFill>
              </a:rPr>
              <a:t>Руководитель:				Толкачева Елена Алексеевна, к.ф.-м.н., доцент 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1800">
                <a:solidFill>
                  <a:srgbClr val="000000"/>
                </a:solidFill>
              </a:rPr>
              <a:t>Консультант:					Розен Виктор Владимирович, д.ф.-м.н. 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8680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Санкт-Петербургский государственный электротехнический университет им.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В.И. Ульянова (Ленина)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0" y="61461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Санкт-Петербург, 202</a:t>
            </a:r>
            <a:r>
              <a:rPr lang="ru-RU" sz="1800"/>
              <a:t>6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151790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Цель и задачи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663825"/>
            <a:ext cx="8623500" cy="58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-RU" sz="1600">
                <a:solidFill>
                  <a:srgbClr val="000000"/>
                </a:solidFill>
              </a:rPr>
              <a:t>Актуальность</a:t>
            </a:r>
            <a:r>
              <a:rPr lang="ru-RU" sz="1600">
                <a:solidFill>
                  <a:srgbClr val="000000"/>
                </a:solidFill>
              </a:rPr>
              <a:t>: многокритериальные задачи принятия решений (ЗПР)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ru-RU" sz="1600">
                <a:solidFill>
                  <a:schemeClr val="dk1"/>
                </a:solidFill>
              </a:rPr>
              <a:t>встречаются в множестве информационных систем, а также в экономических, инженерных и управленческих областях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ru-RU" sz="1600">
                <a:solidFill>
                  <a:srgbClr val="000000"/>
                </a:solidFill>
              </a:rPr>
              <a:t>для сохранения частичного порядка, такие задачи решаются в рамках теории упорядоченных множеств (у.м.), что приводит к необходимости нахождения размерности множества (NP-трудная задача). 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b="1" lang="ru-RU" sz="1600">
                <a:solidFill>
                  <a:srgbClr val="000000"/>
                </a:solidFill>
              </a:rPr>
              <a:t>Цель</a:t>
            </a:r>
            <a:r>
              <a:rPr lang="ru-RU" sz="1600">
                <a:solidFill>
                  <a:srgbClr val="000000"/>
                </a:solidFill>
              </a:rPr>
              <a:t>:</a:t>
            </a:r>
            <a:r>
              <a:rPr lang="ru-RU" sz="1600">
                <a:solidFill>
                  <a:srgbClr val="000000"/>
                </a:solidFill>
              </a:rPr>
              <a:t> разработать метод ранжирования альтернатив в задачах многокритериальной дискретной оптимизации, сохраняющий частичный порядок изначального множества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b="1" lang="ru-RU" sz="1600">
                <a:solidFill>
                  <a:srgbClr val="000000"/>
                </a:solidFill>
              </a:rPr>
              <a:t>Задачи</a:t>
            </a:r>
            <a:r>
              <a:rPr lang="ru-RU" sz="1600">
                <a:solidFill>
                  <a:srgbClr val="000000"/>
                </a:solidFill>
              </a:rPr>
              <a:t>: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rabicPeriod"/>
            </a:pPr>
            <a:r>
              <a:rPr lang="ru-RU" sz="1600">
                <a:solidFill>
                  <a:srgbClr val="000000"/>
                </a:solidFill>
              </a:rPr>
              <a:t>Обзор предметной области.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rabicPeriod"/>
            </a:pPr>
            <a:r>
              <a:rPr lang="ru-RU" sz="1600">
                <a:solidFill>
                  <a:srgbClr val="000000"/>
                </a:solidFill>
              </a:rPr>
              <a:t>Сформировать алгоритм </a:t>
            </a:r>
            <a:r>
              <a:rPr lang="ru-RU" sz="1600">
                <a:solidFill>
                  <a:schemeClr val="dk1"/>
                </a:solidFill>
              </a:rPr>
              <a:t>нахождения минимального сем-ва линеаризаций у.м.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rabicPeriod"/>
            </a:pPr>
            <a:r>
              <a:rPr lang="ru-RU" sz="1600">
                <a:solidFill>
                  <a:srgbClr val="000000"/>
                </a:solidFill>
              </a:rPr>
              <a:t>Сформировать алгоритм </a:t>
            </a:r>
            <a:r>
              <a:rPr lang="ru-RU" sz="1600">
                <a:solidFill>
                  <a:schemeClr val="dk1"/>
                </a:solidFill>
              </a:rPr>
              <a:t>ранжирования альтернатив на основе минимального сем-ва линеаризаций у.м.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ru-RU" sz="1600">
                <a:solidFill>
                  <a:schemeClr val="dk1"/>
                </a:solidFill>
              </a:rPr>
              <a:t>Программно реализовать алгоритм ранжирования альтернатив и разработать пользовательский интерфейс.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ru-RU" sz="1600">
                <a:solidFill>
                  <a:srgbClr val="000000"/>
                </a:solidFill>
              </a:rPr>
              <a:t>Проведение</a:t>
            </a:r>
            <a:r>
              <a:rPr lang="ru-RU" sz="1600">
                <a:solidFill>
                  <a:srgbClr val="000000"/>
                </a:solidFill>
              </a:rPr>
              <a:t> исследования реализованного алгоритма на различных наборах данных.</a:t>
            </a:r>
            <a:r>
              <a:rPr lang="ru-RU" sz="1600">
                <a:solidFill>
                  <a:srgbClr val="000000"/>
                </a:solidFill>
              </a:rPr>
              <a:t> </a:t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34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Подробнее о многокритериальных задачах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297900" y="1181181"/>
            <a:ext cx="8370900" cy="13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solidFill>
                  <a:schemeClr val="dk1"/>
                </a:solidFill>
              </a:rPr>
              <a:t>Определение 1.</a:t>
            </a:r>
            <a:r>
              <a:rPr lang="ru-RU">
                <a:solidFill>
                  <a:schemeClr val="dk1"/>
                </a:solidFill>
              </a:rPr>
              <a:t> Пусть </a:t>
            </a:r>
            <a:r>
              <a:rPr i="1" lang="ru-RU">
                <a:solidFill>
                  <a:schemeClr val="dk1"/>
                </a:solidFill>
              </a:rPr>
              <a:t>X</a:t>
            </a:r>
            <a:r>
              <a:rPr lang="ru-RU">
                <a:solidFill>
                  <a:schemeClr val="dk1"/>
                </a:solidFill>
              </a:rPr>
              <a:t> – непустое множество допустимых альтернатив и каждая альтернатива </a:t>
            </a:r>
            <a:r>
              <a:rPr i="1" lang="ru-RU">
                <a:solidFill>
                  <a:schemeClr val="dk1"/>
                </a:solidFill>
              </a:rPr>
              <a:t>x ∈ X</a:t>
            </a:r>
            <a:r>
              <a:rPr lang="ru-RU">
                <a:solidFill>
                  <a:schemeClr val="dk1"/>
                </a:solidFill>
              </a:rPr>
              <a:t> оценивается по </a:t>
            </a:r>
            <a:r>
              <a:rPr i="1" lang="ru-RU">
                <a:solidFill>
                  <a:schemeClr val="dk1"/>
                </a:solidFill>
              </a:rPr>
              <a:t>m</a:t>
            </a:r>
            <a:r>
              <a:rPr lang="ru-RU">
                <a:solidFill>
                  <a:schemeClr val="dk1"/>
                </a:solidFill>
              </a:rPr>
              <a:t> критериям </a:t>
            </a:r>
            <a:r>
              <a:rPr i="1" lang="ru-RU">
                <a:solidFill>
                  <a:schemeClr val="dk1"/>
                </a:solidFill>
              </a:rPr>
              <a:t>f</a:t>
            </a:r>
            <a:r>
              <a:rPr baseline="-25000" i="1" lang="ru-RU">
                <a:solidFill>
                  <a:schemeClr val="dk1"/>
                </a:solidFill>
              </a:rPr>
              <a:t>1</a:t>
            </a:r>
            <a:r>
              <a:rPr i="1" lang="ru-RU">
                <a:solidFill>
                  <a:schemeClr val="dk1"/>
                </a:solidFill>
              </a:rPr>
              <a:t>,...,</a:t>
            </a:r>
            <a:r>
              <a:rPr i="1" lang="ru-RU">
                <a:solidFill>
                  <a:schemeClr val="dk1"/>
                </a:solidFill>
              </a:rPr>
              <a:t>f</a:t>
            </a:r>
            <a:r>
              <a:rPr baseline="-25000" i="1" lang="ru-RU">
                <a:solidFill>
                  <a:schemeClr val="dk1"/>
                </a:solidFill>
              </a:rPr>
              <a:t>m</a:t>
            </a:r>
            <a:r>
              <a:rPr lang="ru-RU">
                <a:solidFill>
                  <a:schemeClr val="dk1"/>
                </a:solidFill>
              </a:rPr>
              <a:t>. При этом каждый критерий </a:t>
            </a:r>
            <a:r>
              <a:rPr i="1" lang="ru-RU">
                <a:solidFill>
                  <a:schemeClr val="dk1"/>
                </a:solidFill>
              </a:rPr>
              <a:t>f</a:t>
            </a:r>
            <a:r>
              <a:rPr baseline="-25000" i="1" lang="ru-RU">
                <a:solidFill>
                  <a:schemeClr val="dk1"/>
                </a:solidFill>
              </a:rPr>
              <a:t>i</a:t>
            </a:r>
            <a:r>
              <a:rPr lang="ru-RU">
                <a:solidFill>
                  <a:schemeClr val="dk1"/>
                </a:solidFill>
              </a:rPr>
              <a:t>  </a:t>
            </a:r>
            <a:r>
              <a:rPr i="1" lang="ru-RU">
                <a:solidFill>
                  <a:schemeClr val="dk1"/>
                </a:solidFill>
              </a:rPr>
              <a:t>(i=1,...,m)</a:t>
            </a:r>
            <a:r>
              <a:rPr lang="ru-RU">
                <a:solidFill>
                  <a:schemeClr val="dk1"/>
                </a:solidFill>
              </a:rPr>
              <a:t> измеряется в выбранной шкале </a:t>
            </a:r>
            <a:r>
              <a:rPr i="1" lang="ru-RU">
                <a:solidFill>
                  <a:schemeClr val="dk1"/>
                </a:solidFill>
              </a:rPr>
              <a:t>Y</a:t>
            </a:r>
            <a:r>
              <a:rPr baseline="-25000" i="1" lang="ru-RU">
                <a:solidFill>
                  <a:schemeClr val="dk1"/>
                </a:solidFill>
              </a:rPr>
              <a:t>i</a:t>
            </a:r>
            <a:r>
              <a:rPr lang="ru-RU">
                <a:solidFill>
                  <a:schemeClr val="dk1"/>
                </a:solidFill>
              </a:rPr>
              <a:t> ⊆ℝ</a:t>
            </a:r>
            <a:r>
              <a:rPr lang="ru-RU">
                <a:solidFill>
                  <a:schemeClr val="dk1"/>
                </a:solidFill>
              </a:rPr>
              <a:t>.	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72" name="Google Shape;72;p15"/>
          <p:cNvSpPr txBox="1"/>
          <p:nvPr/>
        </p:nvSpPr>
        <p:spPr>
          <a:xfrm>
            <a:off x="5082375" y="4524675"/>
            <a:ext cx="3525600" cy="18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</a:rPr>
              <a:t>Глобально критерии бывают п</a:t>
            </a:r>
            <a:r>
              <a:rPr lang="ru-RU" sz="1600">
                <a:solidFill>
                  <a:schemeClr val="dk1"/>
                </a:solidFill>
              </a:rPr>
              <a:t>озитивные (⬆)</a:t>
            </a:r>
            <a:r>
              <a:rPr lang="ru-RU" sz="1600">
                <a:solidFill>
                  <a:schemeClr val="dk1"/>
                </a:solidFill>
              </a:rPr>
              <a:t> и н</a:t>
            </a:r>
            <a:r>
              <a:rPr lang="ru-RU" sz="1600">
                <a:solidFill>
                  <a:schemeClr val="dk1"/>
                </a:solidFill>
              </a:rPr>
              <a:t>егативные (⬇).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</a:rPr>
              <a:t>Также критерии делятся на: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-RU" sz="1600">
                <a:solidFill>
                  <a:schemeClr val="dk1"/>
                </a:solidFill>
              </a:rPr>
              <a:t>Количественные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-RU" sz="1600">
                <a:solidFill>
                  <a:schemeClr val="dk1"/>
                </a:solidFill>
              </a:rPr>
              <a:t>Качественные </a:t>
            </a:r>
            <a:endParaRPr b="1" sz="1600">
              <a:solidFill>
                <a:schemeClr val="dk1"/>
              </a:solidFill>
            </a:endParaRPr>
          </a:p>
        </p:txBody>
      </p:sp>
      <p:cxnSp>
        <p:nvCxnSpPr>
          <p:cNvPr id="73" name="Google Shape;73;p15"/>
          <p:cNvCxnSpPr/>
          <p:nvPr/>
        </p:nvCxnSpPr>
        <p:spPr>
          <a:xfrm flipH="1" rot="10800000">
            <a:off x="297900" y="2423913"/>
            <a:ext cx="8548200" cy="2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" name="Google Shape;74;p15"/>
          <p:cNvSpPr txBox="1"/>
          <p:nvPr/>
        </p:nvSpPr>
        <p:spPr>
          <a:xfrm>
            <a:off x="297900" y="4739500"/>
            <a:ext cx="2177100" cy="12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</a:rPr>
              <a:t>a {3, 4, 1, 5}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</a:rPr>
              <a:t>b {3, 5, 2, 5}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>
                <a:solidFill>
                  <a:schemeClr val="dk1"/>
                </a:solidFill>
              </a:rPr>
              <a:t>⇒ b ≻</a:t>
            </a:r>
            <a:r>
              <a:rPr baseline="30000" lang="ru-RU" sz="2000">
                <a:solidFill>
                  <a:schemeClr val="dk1"/>
                </a:solidFill>
              </a:rPr>
              <a:t>Par</a:t>
            </a:r>
            <a:r>
              <a:rPr lang="ru-RU" sz="2000">
                <a:solidFill>
                  <a:schemeClr val="dk1"/>
                </a:solidFill>
              </a:rPr>
              <a:t> a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350400" y="2552175"/>
            <a:ext cx="8443200" cy="19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</a:rPr>
              <a:t>Определение 2.</a:t>
            </a:r>
            <a:r>
              <a:rPr lang="ru-RU" sz="1800">
                <a:solidFill>
                  <a:schemeClr val="dk1"/>
                </a:solidFill>
              </a:rPr>
              <a:t> Альтернатива </a:t>
            </a:r>
            <a:r>
              <a:rPr i="1" lang="ru-RU" sz="1800">
                <a:solidFill>
                  <a:schemeClr val="dk1"/>
                </a:solidFill>
              </a:rPr>
              <a:t>x’</a:t>
            </a:r>
            <a:r>
              <a:rPr lang="ru-RU" sz="1800">
                <a:solidFill>
                  <a:schemeClr val="dk1"/>
                </a:solidFill>
              </a:rPr>
              <a:t>  доминирует по Парето альтернативу </a:t>
            </a:r>
            <a:r>
              <a:rPr i="1" lang="ru-RU" sz="1800">
                <a:solidFill>
                  <a:schemeClr val="dk1"/>
                </a:solidFill>
              </a:rPr>
              <a:t>x</a:t>
            </a:r>
            <a:r>
              <a:rPr lang="ru-RU" sz="1800">
                <a:solidFill>
                  <a:schemeClr val="dk1"/>
                </a:solidFill>
              </a:rPr>
              <a:t>  (записывается в виде </a:t>
            </a:r>
            <a:r>
              <a:rPr i="1" lang="ru-RU" sz="1800">
                <a:solidFill>
                  <a:schemeClr val="dk1"/>
                </a:solidFill>
              </a:rPr>
              <a:t>x’</a:t>
            </a:r>
            <a:r>
              <a:rPr i="1" lang="ru-RU" sz="1800">
                <a:solidFill>
                  <a:schemeClr val="dk1"/>
                </a:solidFill>
              </a:rPr>
              <a:t> ≻</a:t>
            </a:r>
            <a:r>
              <a:rPr baseline="30000" i="1" lang="ru-RU" sz="1800">
                <a:solidFill>
                  <a:schemeClr val="dk1"/>
                </a:solidFill>
              </a:rPr>
              <a:t>Par</a:t>
            </a:r>
            <a:r>
              <a:rPr i="1" lang="ru-RU" sz="1800">
                <a:solidFill>
                  <a:schemeClr val="dk1"/>
                </a:solidFill>
              </a:rPr>
              <a:t> x</a:t>
            </a:r>
            <a:r>
              <a:rPr lang="ru-RU" sz="1800">
                <a:solidFill>
                  <a:schemeClr val="dk1"/>
                </a:solidFill>
              </a:rPr>
              <a:t>), если векторная оценка альтернативы </a:t>
            </a:r>
            <a:r>
              <a:rPr i="1" lang="ru-RU" sz="1800">
                <a:solidFill>
                  <a:schemeClr val="dk1"/>
                </a:solidFill>
              </a:rPr>
              <a:t>x’ </a:t>
            </a:r>
            <a:r>
              <a:rPr lang="ru-RU" sz="1800">
                <a:solidFill>
                  <a:schemeClr val="dk1"/>
                </a:solidFill>
              </a:rPr>
              <a:t>доминирует по Парето векторную оценку альтернативы </a:t>
            </a:r>
            <a:r>
              <a:rPr i="1" lang="ru-RU" sz="1800">
                <a:solidFill>
                  <a:schemeClr val="dk1"/>
                </a:solidFill>
              </a:rPr>
              <a:t>x</a:t>
            </a:r>
            <a:r>
              <a:rPr lang="ru-RU" sz="1800">
                <a:solidFill>
                  <a:schemeClr val="dk1"/>
                </a:solidFill>
              </a:rPr>
              <a:t>.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Отношение доминирования по Парето задает на множестве альтернатив </a:t>
            </a:r>
            <a:r>
              <a:rPr b="1" lang="ru-RU" sz="1800">
                <a:solidFill>
                  <a:schemeClr val="dk1"/>
                </a:solidFill>
              </a:rPr>
              <a:t>строгий частичный порядок</a:t>
            </a:r>
            <a:r>
              <a:rPr lang="ru-RU" sz="1800">
                <a:solidFill>
                  <a:schemeClr val="dk1"/>
                </a:solidFill>
              </a:rPr>
              <a:t>. Следовательно, многокритериальная задача сводится к анализу упорядоченного множества.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76" name="Google Shape;76;p15"/>
          <p:cNvCxnSpPr/>
          <p:nvPr/>
        </p:nvCxnSpPr>
        <p:spPr>
          <a:xfrm rot="10800000">
            <a:off x="1823975" y="5113025"/>
            <a:ext cx="873000" cy="248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" name="Google Shape;77;p15"/>
          <p:cNvCxnSpPr/>
          <p:nvPr/>
        </p:nvCxnSpPr>
        <p:spPr>
          <a:xfrm flipH="1">
            <a:off x="1833875" y="5361125"/>
            <a:ext cx="853200" cy="297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" name="Google Shape;78;p15"/>
          <p:cNvSpPr txBox="1"/>
          <p:nvPr/>
        </p:nvSpPr>
        <p:spPr>
          <a:xfrm>
            <a:off x="2475000" y="4817625"/>
            <a:ext cx="19146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Векторные оценки критериев по шкале [1,5]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4717475" y="4524675"/>
            <a:ext cx="3819300" cy="2217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 txBox="1"/>
          <p:nvPr/>
        </p:nvSpPr>
        <p:spPr>
          <a:xfrm>
            <a:off x="2081800" y="6138238"/>
            <a:ext cx="2549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a и b - альтернативы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00" y="25431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>
                <a:solidFill>
                  <a:srgbClr val="333333"/>
                </a:solidFill>
              </a:rPr>
              <a:t>Задача 1. Обзор предметной области</a:t>
            </a:r>
            <a:endParaRPr/>
          </a:p>
        </p:txBody>
      </p:sp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graphicFrame>
        <p:nvGraphicFramePr>
          <p:cNvPr id="87" name="Google Shape;87;p16"/>
          <p:cNvGraphicFramePr/>
          <p:nvPr/>
        </p:nvGraphicFramePr>
        <p:xfrm>
          <a:off x="311713" y="86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{3C614CC9-8E39-451F-9B6B-7DE86DE2249C}</a:tableStyleId>
              </a:tblPr>
              <a:tblGrid>
                <a:gridCol w="1754775"/>
                <a:gridCol w="1207600"/>
                <a:gridCol w="2049900"/>
                <a:gridCol w="1664800"/>
                <a:gridCol w="1843500"/>
              </a:tblGrid>
              <a:tr h="1276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300"/>
                        <a:t>Метод</a:t>
                      </a:r>
                      <a:endParaRPr b="1" sz="1300"/>
                    </a:p>
                    <a:p>
                      <a:pPr indent="0" lvl="0" marL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300"/>
                        <a:t>(ранжирование)</a:t>
                      </a:r>
                      <a:endParaRPr b="1"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300"/>
                        <a:t>Э</a:t>
                      </a:r>
                      <a:r>
                        <a:rPr b="1" lang="ru-RU" sz="1300"/>
                        <a:t>кспертные оценки</a:t>
                      </a:r>
                      <a:endParaRPr b="1"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300"/>
                        <a:t>Ф</a:t>
                      </a:r>
                      <a:r>
                        <a:rPr b="1" lang="ru-RU" sz="1300"/>
                        <a:t>ормируемый порядок</a:t>
                      </a:r>
                      <a:endParaRPr b="1"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300"/>
                        <a:t>С</a:t>
                      </a:r>
                      <a:r>
                        <a:rPr b="1" lang="ru-RU" sz="1300"/>
                        <a:t>охранение частичного порядка</a:t>
                      </a:r>
                      <a:r>
                        <a:rPr b="1" lang="ru-RU" sz="1300"/>
                        <a:t>, %</a:t>
                      </a:r>
                      <a:endParaRPr b="1"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300">
                          <a:solidFill>
                            <a:schemeClr val="dk1"/>
                          </a:solidFill>
                        </a:rPr>
                        <a:t>Число результирующих ранжирований</a:t>
                      </a:r>
                      <a:endParaRPr b="1"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7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/>
                        <a:t>Лексикографическое 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/>
                        <a:t>Нет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/>
                        <a:t>Линейный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/>
                        <a:t>0%</a:t>
                      </a:r>
                      <a:r>
                        <a:rPr lang="ru-RU" sz="1300"/>
                        <a:t> 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/>
                        <a:t>1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9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/>
                        <a:t>Скалярное 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/>
                        <a:t>Да 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/>
                        <a:t>Линейный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/>
                        <a:t>0%</a:t>
                      </a:r>
                      <a:r>
                        <a:rPr lang="ru-RU" sz="1300"/>
                        <a:t> 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/>
                        <a:t>1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2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/>
                        <a:t>МАИ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/>
                        <a:t>Да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/>
                        <a:t>Линейный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/>
                        <a:t>0%</a:t>
                      </a:r>
                      <a:r>
                        <a:rPr lang="ru-RU" sz="1300"/>
                        <a:t> 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/>
                        <a:t>1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/>
                        <a:t>Я</a:t>
                      </a:r>
                      <a:r>
                        <a:rPr lang="ru-RU" sz="1300"/>
                        <a:t>дро противоречий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/>
                        <a:t>Да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/>
                        <a:t>Кластерный 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/>
                        <a:t>до 30%</a:t>
                      </a:r>
                      <a:r>
                        <a:rPr lang="ru-RU" sz="1300"/>
                        <a:t> 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/>
                        <a:t>1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8" name="Google Shape;88;p16"/>
          <p:cNvSpPr txBox="1"/>
          <p:nvPr/>
        </p:nvSpPr>
        <p:spPr>
          <a:xfrm>
            <a:off x="184350" y="4704150"/>
            <a:ext cx="8775300" cy="18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chemeClr val="dk1"/>
                </a:solidFill>
              </a:rPr>
              <a:t>Выводы и формальные требования к разрабатываемому методу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-RU" sz="1600">
                <a:solidFill>
                  <a:schemeClr val="dk1"/>
                </a:solidFill>
              </a:rPr>
              <a:t>Необходимо исключить работу с весовыми коэффициентами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-RU" sz="1600">
                <a:solidFill>
                  <a:schemeClr val="dk1"/>
                </a:solidFill>
              </a:rPr>
              <a:t>Требуется сохранить исходную несравнимость и отказаться от принудительного линейного ранжирования или кластеризации (как в МАИ или ядре противоречий).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-RU" sz="1600">
                <a:solidFill>
                  <a:schemeClr val="dk1"/>
                </a:solidFill>
              </a:rPr>
              <a:t>Формировать несколько множеств равноправных линейных ранжирований, сохраняющих полную информацию об исходном множестве.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08850" y="162400"/>
            <a:ext cx="88323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/>
              <a:t>Задача 2. </a:t>
            </a:r>
            <a:r>
              <a:rPr lang="ru-RU" sz="2200"/>
              <a:t>Сформировать алгоритм нахождения минимального сем-ва линеаризаций у.м.</a:t>
            </a:r>
            <a:endParaRPr sz="2200"/>
          </a:p>
        </p:txBody>
      </p:sp>
      <p:sp>
        <p:nvSpPr>
          <p:cNvPr id="94" name="Google Shape;94;p1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150" y="3693075"/>
            <a:ext cx="2359300" cy="24202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 txBox="1"/>
          <p:nvPr/>
        </p:nvSpPr>
        <p:spPr>
          <a:xfrm>
            <a:off x="308850" y="890100"/>
            <a:ext cx="8526300" cy="32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500"/>
              <a:t>Шаг 1.</a:t>
            </a:r>
            <a:r>
              <a:rPr lang="ru-RU" sz="1500"/>
              <a:t> Поиск всех линеаризаций у.м. (</a:t>
            </a:r>
            <a:r>
              <a:rPr lang="ru-RU" sz="1500">
                <a:solidFill>
                  <a:schemeClr val="dk1"/>
                </a:solidFill>
              </a:rPr>
              <a:t>п</a:t>
            </a:r>
            <a:r>
              <a:rPr lang="ru-RU" sz="1500">
                <a:solidFill>
                  <a:schemeClr val="dk1"/>
                </a:solidFill>
              </a:rPr>
              <a:t>од </a:t>
            </a:r>
            <a:r>
              <a:rPr b="1" lang="ru-RU" sz="1500">
                <a:solidFill>
                  <a:schemeClr val="dk1"/>
                </a:solidFill>
              </a:rPr>
              <a:t>линеаризацией</a:t>
            </a:r>
            <a:r>
              <a:rPr lang="ru-RU" sz="1500">
                <a:solidFill>
                  <a:schemeClr val="dk1"/>
                </a:solidFill>
              </a:rPr>
              <a:t> множества А порядка ω понимается любой содержащий его линейный порядок      на том же множестве</a:t>
            </a:r>
            <a:r>
              <a:rPr lang="ru-RU" sz="1500"/>
              <a:t>). Для этого используется вспомогательный граф, вершинами которого являются подмножества А. </a:t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500"/>
              <a:t>Шаг 2.</a:t>
            </a:r>
            <a:r>
              <a:rPr lang="ru-RU" sz="1500"/>
              <a:t> Поиск минимального полного сем-ва линеаризаций засчет разнонаправленных пар элементов. Такие пары могут образовываться из несравнимых элементов.</a:t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chemeClr val="dk1"/>
                </a:solidFill>
              </a:rPr>
              <a:t>Это также позволит закодировать каждый элемент числовым вектором размерности d, где координаты — позиции элемента в соответствующих линеаризациях.</a:t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0400" y="1523425"/>
            <a:ext cx="197750" cy="2076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 txBox="1"/>
          <p:nvPr/>
        </p:nvSpPr>
        <p:spPr>
          <a:xfrm>
            <a:off x="308847" y="6217613"/>
            <a:ext cx="33708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chemeClr val="dk1"/>
                </a:solidFill>
              </a:rPr>
              <a:t>Рисунок 1 - Диаграмм у.м.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5176675" y="1797050"/>
            <a:ext cx="505200" cy="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">
                <a:solidFill>
                  <a:schemeClr val="lt1"/>
                </a:solidFill>
              </a:rPr>
              <a:t>Рисунок - Омега с чертой</a:t>
            </a:r>
            <a:endParaRPr sz="100">
              <a:solidFill>
                <a:schemeClr val="lt1"/>
              </a:solidFill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4527263" y="6332775"/>
            <a:ext cx="42714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chemeClr val="dk1"/>
                </a:solidFill>
              </a:rPr>
              <a:t>Рисунок 2 - Полное семейство линеаризаций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01" name="Google Shape;10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17724" y="3584949"/>
            <a:ext cx="3890475" cy="274781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7"/>
          <p:cNvSpPr txBox="1"/>
          <p:nvPr/>
        </p:nvSpPr>
        <p:spPr>
          <a:xfrm>
            <a:off x="2009575" y="4068075"/>
            <a:ext cx="3167100" cy="10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chemeClr val="dk1"/>
                </a:solidFill>
              </a:rPr>
              <a:t>{ω</a:t>
            </a:r>
            <a:r>
              <a:rPr baseline="-25000" lang="ru-RU" sz="1700">
                <a:solidFill>
                  <a:schemeClr val="dk1"/>
                </a:solidFill>
              </a:rPr>
              <a:t>2</a:t>
            </a:r>
            <a:r>
              <a:rPr lang="ru-RU" sz="1700">
                <a:solidFill>
                  <a:schemeClr val="dk1"/>
                </a:solidFill>
              </a:rPr>
              <a:t>,ω</a:t>
            </a:r>
            <a:r>
              <a:rPr baseline="-25000" lang="ru-RU" sz="1700">
                <a:solidFill>
                  <a:schemeClr val="dk1"/>
                </a:solidFill>
              </a:rPr>
              <a:t>9</a:t>
            </a:r>
            <a:r>
              <a:rPr lang="ru-RU" sz="1700">
                <a:solidFill>
                  <a:schemeClr val="dk1"/>
                </a:solidFill>
              </a:rPr>
              <a:t>} - минимальное полное семейство линеаризаций у.м.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chemeClr val="dk1"/>
                </a:solidFill>
              </a:rPr>
              <a:t>d = 2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5099838" y="5979775"/>
            <a:ext cx="352500" cy="2760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7925675" y="5979775"/>
            <a:ext cx="352500" cy="2760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197100" y="218375"/>
            <a:ext cx="89031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/>
              <a:t>Задача 3. </a:t>
            </a:r>
            <a:r>
              <a:rPr lang="ru-RU" sz="2200"/>
              <a:t>Сформировать алгоритм ранжирования альтернатив на основе минимального сем-ва линеаризаций у.м.</a:t>
            </a:r>
            <a:endParaRPr sz="2200"/>
          </a:p>
        </p:txBody>
      </p:sp>
      <p:sp>
        <p:nvSpPr>
          <p:cNvPr id="110" name="Google Shape;110;p18"/>
          <p:cNvSpPr/>
          <p:nvPr/>
        </p:nvSpPr>
        <p:spPr>
          <a:xfrm>
            <a:off x="169725" y="1161713"/>
            <a:ext cx="8664300" cy="1053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8"/>
          <p:cNvSpPr txBox="1"/>
          <p:nvPr>
            <p:ph idx="1" type="body"/>
          </p:nvPr>
        </p:nvSpPr>
        <p:spPr>
          <a:xfrm>
            <a:off x="285975" y="1136513"/>
            <a:ext cx="84318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chemeClr val="dk1"/>
                </a:solidFill>
              </a:rPr>
              <a:t>Связь многокритериальных задач и упорядоченных множеств: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chemeClr val="dk1"/>
                </a:solidFill>
              </a:rPr>
              <a:t>М</a:t>
            </a:r>
            <a:r>
              <a:rPr lang="ru-RU" sz="1500">
                <a:solidFill>
                  <a:schemeClr val="dk1"/>
                </a:solidFill>
              </a:rPr>
              <a:t>инимальное полное семейство линеаризаций у.м. = Множество р</a:t>
            </a:r>
            <a:r>
              <a:rPr lang="ru-RU" sz="1500">
                <a:solidFill>
                  <a:schemeClr val="dk1"/>
                </a:solidFill>
              </a:rPr>
              <a:t>анжированных списков альтернатив 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12" name="Google Shape;112;p1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13" name="Google Shape;113;p18"/>
          <p:cNvSpPr txBox="1"/>
          <p:nvPr/>
        </p:nvSpPr>
        <p:spPr>
          <a:xfrm>
            <a:off x="197100" y="2543350"/>
            <a:ext cx="5429400" cy="3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</a:rPr>
              <a:t>Шаг 1.</a:t>
            </a:r>
            <a:r>
              <a:rPr lang="ru-RU" sz="1800">
                <a:solidFill>
                  <a:schemeClr val="dk1"/>
                </a:solidFill>
              </a:rPr>
              <a:t> Нахождение доминирования альтернатив по Парето.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</a:rPr>
              <a:t>Шаг 2.</a:t>
            </a:r>
            <a:r>
              <a:rPr lang="ru-RU" sz="1800">
                <a:solidFill>
                  <a:schemeClr val="dk1"/>
                </a:solidFill>
              </a:rPr>
              <a:t> Нахождение всех линеаризаций у.м. с помощью вспомогательного графа.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</a:rPr>
              <a:t>Шаг 3.</a:t>
            </a:r>
            <a:r>
              <a:rPr lang="ru-RU" sz="1800">
                <a:solidFill>
                  <a:schemeClr val="dk1"/>
                </a:solidFill>
              </a:rPr>
              <a:t> Нахождение полного минимального семейства линеаризаций. Количество линеаризаций и будет являться размерностью упорядоченного множества.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В результате алгоритма получится список (списки) ранжирования альтернатив.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14" name="Google Shape;11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0950" y="2543350"/>
            <a:ext cx="2818754" cy="367426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 txBox="1"/>
          <p:nvPr/>
        </p:nvSpPr>
        <p:spPr>
          <a:xfrm>
            <a:off x="5999938" y="6154750"/>
            <a:ext cx="42714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chemeClr val="lt1"/>
                </a:solidFill>
              </a:rPr>
              <a:t>Рисунок 2 -</a:t>
            </a:r>
            <a:endParaRPr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311700" y="166750"/>
            <a:ext cx="8709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/>
              <a:t>Задача 4. </a:t>
            </a:r>
            <a:r>
              <a:rPr lang="ru-RU" sz="2200"/>
              <a:t>Программно реализовать алгоритм ранжирования альтернатив и разработать пользовательский интерфейс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311700" y="1003725"/>
            <a:ext cx="8633100" cy="27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ru-RU" sz="1700">
                <a:solidFill>
                  <a:schemeClr val="dk1"/>
                </a:solidFill>
              </a:rPr>
              <a:t>Практическая задача</a:t>
            </a:r>
            <a:r>
              <a:rPr lang="ru-RU" sz="1700">
                <a:solidFill>
                  <a:schemeClr val="dk1"/>
                </a:solidFill>
              </a:rPr>
              <a:t> - финальный отбор кандидатов по множеству критериев в условиях малой выборки (10–15 человек) после первичного скрининга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ru-RU" sz="1700">
                <a:solidFill>
                  <a:schemeClr val="dk1"/>
                </a:solidFill>
              </a:rPr>
              <a:t>Входные данные</a:t>
            </a:r>
            <a:r>
              <a:rPr lang="ru-RU" sz="1700">
                <a:solidFill>
                  <a:schemeClr val="dk1"/>
                </a:solidFill>
              </a:rPr>
              <a:t> - csv файл с матрицей A x F, где A - альтернативы (кандидаты), F - критерии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ru-RU" sz="1700">
                <a:solidFill>
                  <a:schemeClr val="dk1"/>
                </a:solidFill>
              </a:rPr>
              <a:t>Технологии</a:t>
            </a:r>
            <a:r>
              <a:rPr lang="ru-RU" sz="1700">
                <a:solidFill>
                  <a:schemeClr val="dk1"/>
                </a:solidFill>
              </a:rPr>
              <a:t> - Python, matplotlib 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ru-RU" sz="1700">
                <a:solidFill>
                  <a:schemeClr val="dk1"/>
                </a:solidFill>
              </a:rPr>
              <a:t>Взаимодействие с пользователем</a:t>
            </a:r>
            <a:r>
              <a:rPr lang="ru-RU" sz="1700">
                <a:solidFill>
                  <a:schemeClr val="dk1"/>
                </a:solidFill>
              </a:rPr>
              <a:t> - CLI (Command Line Interface)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ru-RU" sz="1700">
                <a:solidFill>
                  <a:schemeClr val="dk1"/>
                </a:solidFill>
              </a:rPr>
              <a:t>Результат</a:t>
            </a:r>
            <a:r>
              <a:rPr lang="ru-RU" sz="1700">
                <a:solidFill>
                  <a:schemeClr val="dk1"/>
                </a:solidFill>
              </a:rPr>
              <a:t> - Ранжированный список (списки) кандидатов в виде изображения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122" name="Google Shape;122;p1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23" name="Google Shape;123;p19"/>
          <p:cNvSpPr txBox="1"/>
          <p:nvPr/>
        </p:nvSpPr>
        <p:spPr>
          <a:xfrm>
            <a:off x="3360713" y="6161200"/>
            <a:ext cx="42714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chemeClr val="lt1"/>
                </a:solidFill>
              </a:rPr>
              <a:t>Рисунок 2 - </a:t>
            </a:r>
            <a:endParaRPr sz="1500">
              <a:solidFill>
                <a:schemeClr val="lt1"/>
              </a:solidFill>
            </a:endParaRPr>
          </a:p>
        </p:txBody>
      </p:sp>
      <p:pic>
        <p:nvPicPr>
          <p:cNvPr id="124" name="Google Shape;12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175" y="4156170"/>
            <a:ext cx="8070277" cy="2458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311700" y="42111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Задача 4. Пример вывода программы</a:t>
            </a:r>
            <a:endParaRPr/>
          </a:p>
        </p:txBody>
      </p:sp>
      <p:sp>
        <p:nvSpPr>
          <p:cNvPr id="130" name="Google Shape;130;p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31" name="Google Shape;131;p20"/>
          <p:cNvSpPr txBox="1"/>
          <p:nvPr/>
        </p:nvSpPr>
        <p:spPr>
          <a:xfrm>
            <a:off x="311700" y="1551125"/>
            <a:ext cx="3933000" cy="45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Благодаря тому, что сформированный алгоритм составляет в результате несколько вариантов ранжирований, информация об изначальном множестве не искажается и не опускается.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Лицу, принимающему решение, сокращенно </a:t>
            </a:r>
            <a:r>
              <a:rPr b="1" lang="ru-RU" sz="1800">
                <a:solidFill>
                  <a:schemeClr val="dk1"/>
                </a:solidFill>
              </a:rPr>
              <a:t>ЛПР </a:t>
            </a:r>
            <a:r>
              <a:rPr lang="ru-RU" sz="1800">
                <a:solidFill>
                  <a:schemeClr val="dk1"/>
                </a:solidFill>
              </a:rPr>
              <a:t>(например, HR-специалисту или руководителю команды), предоставляется несколько вариантов альтернативных распределений кандидатов.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32" name="Google Shape;132;p20"/>
          <p:cNvSpPr txBox="1"/>
          <p:nvPr/>
        </p:nvSpPr>
        <p:spPr>
          <a:xfrm>
            <a:off x="5275638" y="6128125"/>
            <a:ext cx="42714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chemeClr val="lt1"/>
                </a:solidFill>
              </a:rPr>
              <a:t>Рисунок 2 - </a:t>
            </a:r>
            <a:endParaRPr sz="1500">
              <a:solidFill>
                <a:schemeClr val="lt1"/>
              </a:solidFill>
            </a:endParaRPr>
          </a:p>
        </p:txBody>
      </p:sp>
      <p:pic>
        <p:nvPicPr>
          <p:cNvPr id="133" name="Google Shape;13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7150" y="1269800"/>
            <a:ext cx="4815151" cy="4862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311700" y="34081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Задача 5. Исследование алгоритма </a:t>
            </a:r>
            <a:endParaRPr/>
          </a:p>
        </p:txBody>
      </p:sp>
      <p:sp>
        <p:nvSpPr>
          <p:cNvPr id="139" name="Google Shape;139;p21"/>
          <p:cNvSpPr txBox="1"/>
          <p:nvPr>
            <p:ph idx="1" type="body"/>
          </p:nvPr>
        </p:nvSpPr>
        <p:spPr>
          <a:xfrm>
            <a:off x="311700" y="11043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2000">
                <a:solidFill>
                  <a:schemeClr val="dk1"/>
                </a:solidFill>
              </a:rPr>
              <a:t>Этап 1.</a:t>
            </a:r>
            <a:r>
              <a:rPr lang="ru-RU" sz="2000">
                <a:solidFill>
                  <a:schemeClr val="dk1"/>
                </a:solidFill>
              </a:rPr>
              <a:t> </a:t>
            </a:r>
            <a:r>
              <a:rPr lang="ru-RU" sz="2000">
                <a:solidFill>
                  <a:schemeClr val="dk1"/>
                </a:solidFill>
              </a:rPr>
              <a:t>Частичное упорядочение альтернатив по Парето - за </a:t>
            </a:r>
            <a:r>
              <a:rPr i="1" lang="ru-RU" sz="2000">
                <a:solidFill>
                  <a:schemeClr val="dk1"/>
                </a:solidFill>
              </a:rPr>
              <a:t>О(А</a:t>
            </a:r>
            <a:r>
              <a:rPr baseline="30000" i="1" lang="ru-RU" sz="2000">
                <a:solidFill>
                  <a:schemeClr val="dk1"/>
                </a:solidFill>
              </a:rPr>
              <a:t>2</a:t>
            </a:r>
            <a:r>
              <a:rPr i="1" lang="ru-RU" sz="2000">
                <a:solidFill>
                  <a:schemeClr val="dk1"/>
                </a:solidFill>
              </a:rPr>
              <a:t>⋅F)</a:t>
            </a:r>
            <a:endParaRPr i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</a:rPr>
              <a:t>Этап 2.</a:t>
            </a:r>
            <a:r>
              <a:rPr lang="ru-RU" sz="2000">
                <a:solidFill>
                  <a:schemeClr val="dk1"/>
                </a:solidFill>
              </a:rPr>
              <a:t> Поиск всех линеаризаций, используя Backtracking - за </a:t>
            </a:r>
            <a:r>
              <a:rPr i="1" lang="ru-RU" sz="2000">
                <a:solidFill>
                  <a:schemeClr val="dk1"/>
                </a:solidFill>
              </a:rPr>
              <a:t>О(А⋅К)</a:t>
            </a:r>
            <a:r>
              <a:rPr lang="ru-RU" sz="2000">
                <a:solidFill>
                  <a:schemeClr val="dk1"/>
                </a:solidFill>
              </a:rPr>
              <a:t>, К - истинное количество всех линеаризаций у.м.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</a:rPr>
              <a:t>Этап 3.</a:t>
            </a:r>
            <a:r>
              <a:rPr lang="ru-RU" sz="2000">
                <a:solidFill>
                  <a:schemeClr val="dk1"/>
                </a:solidFill>
              </a:rPr>
              <a:t> Минимальное полное семейство - за </a:t>
            </a:r>
            <a:r>
              <a:rPr i="1" lang="ru-RU" sz="2000">
                <a:solidFill>
                  <a:schemeClr val="dk1"/>
                </a:solidFill>
              </a:rPr>
              <a:t>О(А</a:t>
            </a:r>
            <a:r>
              <a:rPr baseline="30000" i="1" lang="ru-RU" sz="2000">
                <a:solidFill>
                  <a:schemeClr val="dk1"/>
                </a:solidFill>
              </a:rPr>
              <a:t>3</a:t>
            </a:r>
            <a:r>
              <a:rPr i="1" lang="ru-RU" sz="2000">
                <a:solidFill>
                  <a:schemeClr val="dk1"/>
                </a:solidFill>
              </a:rPr>
              <a:t>+K</a:t>
            </a:r>
            <a:r>
              <a:rPr baseline="30000" i="1" lang="ru-RU" sz="2000">
                <a:solidFill>
                  <a:schemeClr val="dk1"/>
                </a:solidFill>
              </a:rPr>
              <a:t>d</a:t>
            </a:r>
            <a:r>
              <a:rPr i="1" lang="ru-RU" sz="2000">
                <a:solidFill>
                  <a:schemeClr val="dk1"/>
                </a:solidFill>
              </a:rPr>
              <a:t>⋅А</a:t>
            </a:r>
            <a:r>
              <a:rPr baseline="30000" i="1" lang="ru-RU" sz="2000">
                <a:solidFill>
                  <a:schemeClr val="dk1"/>
                </a:solidFill>
              </a:rPr>
              <a:t>2</a:t>
            </a:r>
            <a:r>
              <a:rPr i="1" lang="ru-RU" sz="2000">
                <a:solidFill>
                  <a:schemeClr val="dk1"/>
                </a:solidFill>
              </a:rPr>
              <a:t>)</a:t>
            </a:r>
            <a:r>
              <a:rPr lang="ru-RU" sz="2000">
                <a:solidFill>
                  <a:schemeClr val="dk1"/>
                </a:solidFill>
              </a:rPr>
              <a:t>,  где </a:t>
            </a:r>
            <a:r>
              <a:rPr i="1" lang="ru-RU" sz="2000">
                <a:solidFill>
                  <a:schemeClr val="dk1"/>
                </a:solidFill>
              </a:rPr>
              <a:t>d</a:t>
            </a:r>
            <a:r>
              <a:rPr lang="ru-RU" sz="2000">
                <a:solidFill>
                  <a:schemeClr val="dk1"/>
                </a:solidFill>
              </a:rPr>
              <a:t> - размерность у.м.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</a:rPr>
              <a:t>Итоговая сложность</a:t>
            </a:r>
            <a:r>
              <a:rPr lang="ru-RU" sz="2000">
                <a:solidFill>
                  <a:schemeClr val="dk1"/>
                </a:solidFill>
              </a:rPr>
              <a:t> - </a:t>
            </a:r>
            <a:r>
              <a:rPr i="1" lang="ru-RU" sz="2000">
                <a:solidFill>
                  <a:schemeClr val="dk1"/>
                </a:solidFill>
              </a:rPr>
              <a:t>О(А</a:t>
            </a:r>
            <a:r>
              <a:rPr baseline="30000" i="1" lang="ru-RU" sz="2000">
                <a:solidFill>
                  <a:schemeClr val="dk1"/>
                </a:solidFill>
              </a:rPr>
              <a:t>2</a:t>
            </a:r>
            <a:r>
              <a:rPr i="1" lang="ru-RU" sz="2000">
                <a:solidFill>
                  <a:schemeClr val="dk1"/>
                </a:solidFill>
              </a:rPr>
              <a:t>⋅F + А</a:t>
            </a:r>
            <a:r>
              <a:rPr baseline="30000" i="1" lang="ru-RU" sz="2000">
                <a:solidFill>
                  <a:schemeClr val="dk1"/>
                </a:solidFill>
              </a:rPr>
              <a:t>3 </a:t>
            </a:r>
            <a:r>
              <a:rPr i="1" lang="ru-RU" sz="2000">
                <a:solidFill>
                  <a:schemeClr val="dk1"/>
                </a:solidFill>
              </a:rPr>
              <a:t>+ K</a:t>
            </a:r>
            <a:r>
              <a:rPr baseline="30000" i="1" lang="ru-RU" sz="2000">
                <a:solidFill>
                  <a:schemeClr val="dk1"/>
                </a:solidFill>
              </a:rPr>
              <a:t>d</a:t>
            </a:r>
            <a:r>
              <a:rPr i="1" lang="ru-RU" sz="2000">
                <a:solidFill>
                  <a:schemeClr val="dk1"/>
                </a:solidFill>
              </a:rPr>
              <a:t>⋅А</a:t>
            </a:r>
            <a:r>
              <a:rPr baseline="30000" i="1" lang="ru-RU" sz="2000">
                <a:solidFill>
                  <a:schemeClr val="dk1"/>
                </a:solidFill>
              </a:rPr>
              <a:t>2</a:t>
            </a:r>
            <a:r>
              <a:rPr i="1" lang="ru-RU" sz="2000">
                <a:solidFill>
                  <a:schemeClr val="dk1"/>
                </a:solidFill>
              </a:rPr>
              <a:t>)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>
                <a:solidFill>
                  <a:schemeClr val="dk1"/>
                </a:solidFill>
              </a:rPr>
              <a:t>Время работы алгоритма измерялась на 3 типах данных: 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arenR"/>
            </a:pPr>
            <a:r>
              <a:rPr lang="ru-RU" sz="1900">
                <a:solidFill>
                  <a:schemeClr val="dk1"/>
                </a:solidFill>
              </a:rPr>
              <a:t>Исследование влияния на время алгоритма количества альтернатив. F=5, A ∈ {5, 6, 7, 8, 9, 10, 11, 12, 13, 14, 15, 16}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arenR"/>
            </a:pPr>
            <a:r>
              <a:rPr lang="ru-RU" sz="1900">
                <a:solidFill>
                  <a:schemeClr val="dk1"/>
                </a:solidFill>
              </a:rPr>
              <a:t>Исследование влияния на время алгоритма количества критериев. A = 8, F </a:t>
            </a:r>
            <a:r>
              <a:rPr lang="ru-RU" sz="1900">
                <a:solidFill>
                  <a:schemeClr val="dk1"/>
                </a:solidFill>
              </a:rPr>
              <a:t>∈ {5, 7, 10, 15, 20, 25, 50, 75, 100}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arenR"/>
            </a:pPr>
            <a:r>
              <a:rPr lang="ru-RU" sz="1900">
                <a:solidFill>
                  <a:schemeClr val="dk1"/>
                </a:solidFill>
              </a:rPr>
              <a:t>Комплексное масш-ние. A, F ∈ {5, 6, 7, 8, 9, 10, 11, 12, 13, 14, 15}</a:t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0" name="Google Shape;140;p2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type="title"/>
          </p:nvPr>
        </p:nvSpPr>
        <p:spPr>
          <a:xfrm>
            <a:off x="311700" y="215942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/>
              <a:t>Задача 5. Проведение исследование алгоритма. Изучение зависимости времени работы от числа кандидатов</a:t>
            </a:r>
            <a:endParaRPr sz="2200"/>
          </a:p>
        </p:txBody>
      </p:sp>
      <p:sp>
        <p:nvSpPr>
          <p:cNvPr id="146" name="Google Shape;146;p2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147" name="Google Shape;14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5446" y="2411800"/>
            <a:ext cx="6713119" cy="419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6401150" y="6577925"/>
            <a:ext cx="949200" cy="1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">
                <a:solidFill>
                  <a:schemeClr val="lt1"/>
                </a:solidFill>
                <a:highlight>
                  <a:schemeClr val="lt1"/>
                </a:highlight>
              </a:rPr>
              <a:t>Рисунок 8 </a:t>
            </a:r>
            <a:endParaRPr sz="200"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sp>
        <p:nvSpPr>
          <p:cNvPr id="149" name="Google Shape;149;p22"/>
          <p:cNvSpPr txBox="1"/>
          <p:nvPr/>
        </p:nvSpPr>
        <p:spPr>
          <a:xfrm>
            <a:off x="163450" y="1131100"/>
            <a:ext cx="8857800" cy="12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</a:rPr>
              <a:t>Для каждого набора данных программа была запущена </a:t>
            </a:r>
            <a:r>
              <a:rPr b="1" lang="ru-RU" sz="1600">
                <a:solidFill>
                  <a:schemeClr val="dk1"/>
                </a:solidFill>
              </a:rPr>
              <a:t>10 раз</a:t>
            </a:r>
            <a:r>
              <a:rPr lang="ru-RU" sz="1600">
                <a:solidFill>
                  <a:schemeClr val="dk1"/>
                </a:solidFill>
              </a:rPr>
              <a:t>, после чего было взято среднее время исполнения. Оставшиеся 2 диаграммы представлены в доп. слайдах.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>
                <a:solidFill>
                  <a:schemeClr val="dk1"/>
                </a:solidFill>
              </a:rPr>
              <a:t>Эксперименты проводились на персональном компьютере с процессором </a:t>
            </a:r>
            <a:r>
              <a:rPr b="1" lang="ru-RU" sz="1600">
                <a:solidFill>
                  <a:schemeClr val="dk1"/>
                </a:solidFill>
              </a:rPr>
              <a:t>Apple M1, 3.2 ГГц</a:t>
            </a:r>
            <a:r>
              <a:rPr lang="ru-RU" sz="1600">
                <a:solidFill>
                  <a:schemeClr val="dk1"/>
                </a:solidFill>
              </a:rPr>
              <a:t>, оперативная память </a:t>
            </a:r>
            <a:r>
              <a:rPr b="1" lang="ru-RU" sz="1600">
                <a:solidFill>
                  <a:schemeClr val="dk1"/>
                </a:solidFill>
              </a:rPr>
              <a:t>8 ГБ</a:t>
            </a:r>
            <a:r>
              <a:rPr lang="ru-RU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type="title"/>
          </p:nvPr>
        </p:nvSpPr>
        <p:spPr>
          <a:xfrm>
            <a:off x="311700" y="437942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Апробация</a:t>
            </a:r>
            <a:endParaRPr/>
          </a:p>
        </p:txBody>
      </p:sp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217050" y="1279150"/>
            <a:ext cx="8804100" cy="16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-RU">
                <a:solidFill>
                  <a:schemeClr val="dk1"/>
                </a:solidFill>
              </a:rPr>
              <a:t>Репозиторий проекта: </a:t>
            </a:r>
            <a:r>
              <a:rPr lang="ru-RU" u="sng">
                <a:solidFill>
                  <a:schemeClr val="hlink"/>
                </a:solidFill>
                <a:hlinkClick r:id="rId3"/>
              </a:rPr>
              <a:t>https://github.com/Sofassssssss/candidate-ranking-system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ru-RU">
                <a:solidFill>
                  <a:schemeClr val="dk1"/>
                </a:solidFill>
              </a:rPr>
              <a:t>Вовченко С.Е., Валеева А.А.</a:t>
            </a:r>
            <a:r>
              <a:rPr lang="ru-RU">
                <a:solidFill>
                  <a:schemeClr val="dk1"/>
                </a:solidFill>
              </a:rPr>
              <a:t> Размерность упорядоченного множества // XII Научно-практическая конференция с международным участием «Наука настоящего и будущего»: Сборник материалов конференции, Санкт-Петербург. — 2024. — Т.1. — С. 249-253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6" name="Google Shape;156;p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7" name="Google Shape;157;p23"/>
          <p:cNvSpPr txBox="1"/>
          <p:nvPr/>
        </p:nvSpPr>
        <p:spPr>
          <a:xfrm>
            <a:off x="3689600" y="6498600"/>
            <a:ext cx="30111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solidFill>
                  <a:schemeClr val="lt1"/>
                </a:solidFill>
                <a:highlight>
                  <a:srgbClr val="FFFFFF"/>
                </a:highlight>
              </a:rPr>
              <a:t>Рисунок - репозиторий проекта </a:t>
            </a:r>
            <a:endParaRPr sz="900">
              <a:solidFill>
                <a:schemeClr val="lt1"/>
              </a:solidFill>
              <a:highlight>
                <a:srgbClr val="FFFFFF"/>
              </a:highlight>
            </a:endParaRPr>
          </a:p>
        </p:txBody>
      </p:sp>
      <p:pic>
        <p:nvPicPr>
          <p:cNvPr id="158" name="Google Shape;15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6450" y="3429000"/>
            <a:ext cx="3011100" cy="301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title"/>
          </p:nvPr>
        </p:nvSpPr>
        <p:spPr>
          <a:xfrm>
            <a:off x="311700" y="2339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Заключение</a:t>
            </a:r>
            <a:endParaRPr/>
          </a:p>
        </p:txBody>
      </p:sp>
      <p:sp>
        <p:nvSpPr>
          <p:cNvPr id="164" name="Google Shape;164;p24"/>
          <p:cNvSpPr txBox="1"/>
          <p:nvPr>
            <p:ph idx="1" type="body"/>
          </p:nvPr>
        </p:nvSpPr>
        <p:spPr>
          <a:xfrm>
            <a:off x="311700" y="740975"/>
            <a:ext cx="8520600" cy="57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-RU" sz="1500">
                <a:solidFill>
                  <a:schemeClr val="dk1"/>
                </a:solidFill>
              </a:rPr>
              <a:t>Проведенный обзор аналогов выявил, что большинство методов не сохраняют информацию об изначальном множестве, а также плохо применимы в условиях несравнимости, так как выдают всего одно ранжирование.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-RU" sz="1500">
                <a:solidFill>
                  <a:schemeClr val="dk1"/>
                </a:solidFill>
              </a:rPr>
              <a:t>Сформирован алгоритм нахождения минимального полного сем-ва линеаризаций у.м. при помощи анализа на основе разнонаправленных пар элементов.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-RU" sz="1500">
                <a:solidFill>
                  <a:schemeClr val="dk1"/>
                </a:solidFill>
              </a:rPr>
              <a:t>Сформирован алгоритм ранжирования альтернатив, сохраняющий информацию об изначальном множестве. Предоставляет ЛПР несколько вариантов распределений кандидатов.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-RU" sz="1500">
                <a:solidFill>
                  <a:schemeClr val="dk1"/>
                </a:solidFill>
              </a:rPr>
              <a:t>Написана программная реализация алгоритма на языке Python, для взаимодействия с пользователем был написан интерфейс командной строки.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-RU" sz="1500">
                <a:solidFill>
                  <a:schemeClr val="dk1"/>
                </a:solidFill>
              </a:rPr>
              <a:t>Проведено исследование реализованного алгоритма, показавшее высокую скорость алгоритма: для 16 кандидатов время выполнения составляет менее 2 мс. Выявлено, что скорость алгоритма падает при комплексном увеличении альтернатив и критериев.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chemeClr val="dk1"/>
                </a:solidFill>
              </a:rPr>
              <a:t>В качестве развития тематики данной работы можно рассмотреть </a:t>
            </a:r>
            <a:r>
              <a:rPr b="1" lang="ru-RU" sz="1500">
                <a:solidFill>
                  <a:schemeClr val="dk1"/>
                </a:solidFill>
              </a:rPr>
              <a:t>разработку полноценной системы</a:t>
            </a:r>
            <a:r>
              <a:rPr lang="ru-RU" sz="1500">
                <a:solidFill>
                  <a:schemeClr val="dk1"/>
                </a:solidFill>
              </a:rPr>
              <a:t> для отбора кандидатов, включающую в себя построение начальной выборки кандидатов для ранжирования, </a:t>
            </a:r>
            <a:r>
              <a:rPr b="1" lang="ru-RU" sz="1500">
                <a:solidFill>
                  <a:schemeClr val="dk1"/>
                </a:solidFill>
              </a:rPr>
              <a:t>предобработку резюме</a:t>
            </a:r>
            <a:r>
              <a:rPr lang="ru-RU" sz="1500">
                <a:solidFill>
                  <a:schemeClr val="dk1"/>
                </a:solidFill>
              </a:rPr>
              <a:t> кандидата и </a:t>
            </a:r>
            <a:r>
              <a:rPr b="1" lang="ru-RU" sz="1500">
                <a:solidFill>
                  <a:schemeClr val="dk1"/>
                </a:solidFill>
              </a:rPr>
              <a:t>алгоритм анализа</a:t>
            </a:r>
            <a:r>
              <a:rPr lang="ru-RU" sz="1500">
                <a:solidFill>
                  <a:schemeClr val="dk1"/>
                </a:solidFill>
              </a:rPr>
              <a:t> </a:t>
            </a:r>
            <a:r>
              <a:rPr lang="ru-RU" sz="1500">
                <a:solidFill>
                  <a:schemeClr val="dk1"/>
                </a:solidFill>
              </a:rPr>
              <a:t>нескольких ранжирований кандидатов для принятия</a:t>
            </a:r>
            <a:r>
              <a:rPr lang="ru-RU" sz="1500">
                <a:solidFill>
                  <a:schemeClr val="dk1"/>
                </a:solidFill>
              </a:rPr>
              <a:t> итогового решения.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65" name="Google Shape;165;p2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type="title"/>
          </p:nvPr>
        </p:nvSpPr>
        <p:spPr>
          <a:xfrm>
            <a:off x="2091300" y="3047250"/>
            <a:ext cx="49614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/>
              <a:t>Запасные слайды</a:t>
            </a:r>
            <a:endParaRPr sz="4000"/>
          </a:p>
        </p:txBody>
      </p:sp>
      <p:sp>
        <p:nvSpPr>
          <p:cNvPr id="171" name="Google Shape;171;p2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>
            <p:ph type="title"/>
          </p:nvPr>
        </p:nvSpPr>
        <p:spPr>
          <a:xfrm>
            <a:off x="311700" y="28781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Подробное описание критериев</a:t>
            </a:r>
            <a:endParaRPr/>
          </a:p>
        </p:txBody>
      </p:sp>
      <p:sp>
        <p:nvSpPr>
          <p:cNvPr id="177" name="Google Shape;177;p26"/>
          <p:cNvSpPr txBox="1"/>
          <p:nvPr>
            <p:ph idx="1" type="body"/>
          </p:nvPr>
        </p:nvSpPr>
        <p:spPr>
          <a:xfrm>
            <a:off x="156275" y="979823"/>
            <a:ext cx="8520600" cy="57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arenR"/>
            </a:pPr>
            <a:r>
              <a:rPr b="1" lang="ru-RU" sz="1700">
                <a:solidFill>
                  <a:schemeClr val="dk1"/>
                </a:solidFill>
              </a:rPr>
              <a:t>Необходимость привлечения экспертных оценок </a:t>
            </a:r>
            <a:r>
              <a:rPr lang="ru-RU" sz="1700">
                <a:solidFill>
                  <a:schemeClr val="dk1"/>
                </a:solidFill>
              </a:rPr>
              <a:t>— отражает степень субъективности метода. Например, требует ли метод от экспертов сложного и субъективного назначения «весов» критериев на первом этапе; 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arenR"/>
            </a:pPr>
            <a:r>
              <a:rPr b="1" lang="ru-RU" sz="1700">
                <a:solidFill>
                  <a:schemeClr val="dk1"/>
                </a:solidFill>
              </a:rPr>
              <a:t>Тип формируемого порядка</a:t>
            </a:r>
            <a:r>
              <a:rPr lang="ru-RU" sz="1700">
                <a:solidFill>
                  <a:schemeClr val="dk1"/>
                </a:solidFill>
              </a:rPr>
              <a:t> (линейный, частичный, кластеризация — т.е. разбиение на классы без их упорядочения) — определяет структуру финального ответа. Критерий выбран, чтобы показать, сохраняет ли метод частичный порядок изначального множества или строит линейный порядок даже там, где кандидаты несравнимы;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arenR"/>
            </a:pPr>
            <a:r>
              <a:rPr b="1" lang="ru-RU" sz="1700">
                <a:solidFill>
                  <a:schemeClr val="dk1"/>
                </a:solidFill>
              </a:rPr>
              <a:t>Сохранение частичного порядка</a:t>
            </a:r>
            <a:r>
              <a:rPr lang="ru-RU" sz="1700">
                <a:solidFill>
                  <a:schemeClr val="dk1"/>
                </a:solidFill>
              </a:rPr>
              <a:t> — отображает процент сохранения частичного порядка. Может быть равен 0% в случае полной линеаризации изначального множества; 30-50% при распределении альтернатив на кластеры; 100% в случае полного сохранения частичного порядка.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arenR"/>
            </a:pPr>
            <a:r>
              <a:rPr b="1" lang="ru-RU" sz="1700">
                <a:solidFill>
                  <a:schemeClr val="dk1"/>
                </a:solidFill>
              </a:rPr>
              <a:t>Число результирующих ранжирований</a:t>
            </a:r>
            <a:r>
              <a:rPr lang="ru-RU" sz="1700">
                <a:solidFill>
                  <a:schemeClr val="dk1"/>
                </a:solidFill>
              </a:rPr>
              <a:t> — оценивает адаптивность метода в условиях несравнимости (неопределенности). В задачах подбора персонала часто невозможно выделить одного абсолютного лидера, поэтому важно предоставить несколько математически равноправных вариантов ранжирования для финального выбора.</a:t>
            </a:r>
            <a:endParaRPr sz="1700"/>
          </a:p>
        </p:txBody>
      </p:sp>
      <p:sp>
        <p:nvSpPr>
          <p:cNvPr id="178" name="Google Shape;178;p2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Разработанный алгоритм на примере, часть 1</a:t>
            </a:r>
            <a:endParaRPr/>
          </a:p>
        </p:txBody>
      </p:sp>
      <p:sp>
        <p:nvSpPr>
          <p:cNvPr id="184" name="Google Shape;184;p27"/>
          <p:cNvSpPr txBox="1"/>
          <p:nvPr>
            <p:ph idx="1" type="body"/>
          </p:nvPr>
        </p:nvSpPr>
        <p:spPr>
          <a:xfrm>
            <a:off x="688175" y="5923275"/>
            <a:ext cx="3885600" cy="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lt1"/>
                </a:solidFill>
              </a:rPr>
              <a:t>Рисунок -</a:t>
            </a:r>
            <a:r>
              <a:rPr lang="ru-RU">
                <a:solidFill>
                  <a:schemeClr val="dk1"/>
                </a:solidFill>
              </a:rPr>
              <a:t> Входные данные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5" name="Google Shape;185;p2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186" name="Google Shape;18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525" y="2097000"/>
            <a:ext cx="4250899" cy="372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7"/>
          <p:cNvSpPr txBox="1"/>
          <p:nvPr/>
        </p:nvSpPr>
        <p:spPr>
          <a:xfrm>
            <a:off x="5743750" y="1533425"/>
            <a:ext cx="28779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</a:rPr>
              <a:t>Этап 1</a:t>
            </a:r>
            <a:r>
              <a:rPr lang="ru-RU" sz="1800">
                <a:solidFill>
                  <a:schemeClr val="dk1"/>
                </a:solidFill>
              </a:rPr>
              <a:t>. Доминирование альтернатив по Парето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88" name="Google Shape;18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2650" y="2273550"/>
            <a:ext cx="3479650" cy="26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7"/>
          <p:cNvSpPr txBox="1"/>
          <p:nvPr>
            <p:ph idx="1" type="body"/>
          </p:nvPr>
        </p:nvSpPr>
        <p:spPr>
          <a:xfrm>
            <a:off x="5743750" y="4967475"/>
            <a:ext cx="3885600" cy="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lt1"/>
                </a:solidFill>
              </a:rPr>
              <a:t>Рисунок -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Разработанный алгоритм на примере, часть 2</a:t>
            </a:r>
            <a:endParaRPr/>
          </a:p>
        </p:txBody>
      </p:sp>
      <p:sp>
        <p:nvSpPr>
          <p:cNvPr id="195" name="Google Shape;195;p28"/>
          <p:cNvSpPr txBox="1"/>
          <p:nvPr>
            <p:ph idx="1" type="body"/>
          </p:nvPr>
        </p:nvSpPr>
        <p:spPr>
          <a:xfrm>
            <a:off x="492475" y="3166650"/>
            <a:ext cx="3305700" cy="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solidFill>
                  <a:schemeClr val="dk1"/>
                </a:solidFill>
              </a:rPr>
              <a:t>Этап 2.</a:t>
            </a:r>
            <a:r>
              <a:rPr lang="ru-RU">
                <a:solidFill>
                  <a:schemeClr val="dk1"/>
                </a:solidFill>
              </a:rPr>
              <a:t> Нахождение всех линеаризаций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</a:rPr>
              <a:t>Подсчитано</a:t>
            </a:r>
            <a:r>
              <a:rPr lang="ru-RU">
                <a:solidFill>
                  <a:schemeClr val="dk1"/>
                </a:solidFill>
              </a:rPr>
              <a:t> с помощью программы, всего 22 линеаризации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6" name="Google Shape;196;p2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97" name="Google Shape;197;p28"/>
          <p:cNvSpPr txBox="1"/>
          <p:nvPr/>
        </p:nvSpPr>
        <p:spPr>
          <a:xfrm>
            <a:off x="4168200" y="1401675"/>
            <a:ext cx="46641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</a:rPr>
              <a:t>Этап 3</a:t>
            </a:r>
            <a:r>
              <a:rPr lang="ru-RU" sz="1800">
                <a:solidFill>
                  <a:schemeClr val="dk1"/>
                </a:solidFill>
              </a:rPr>
              <a:t>. Полное минимальное семейство линеаризаций у.м.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98" name="Google Shape;19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3363" y="2252375"/>
            <a:ext cx="3143900" cy="4098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8"/>
          <p:cNvSpPr txBox="1"/>
          <p:nvPr>
            <p:ph idx="1" type="body"/>
          </p:nvPr>
        </p:nvSpPr>
        <p:spPr>
          <a:xfrm>
            <a:off x="4586850" y="6287075"/>
            <a:ext cx="3885600" cy="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lt1"/>
                </a:solidFill>
              </a:rPr>
              <a:t>Рисунок -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Интерфейс командной строки. Запуск </a:t>
            </a:r>
            <a:endParaRPr/>
          </a:p>
        </p:txBody>
      </p:sp>
      <p:sp>
        <p:nvSpPr>
          <p:cNvPr id="205" name="Google Shape;205;p2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06" name="Google Shape;20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313" y="2123700"/>
            <a:ext cx="7851376" cy="261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9"/>
          <p:cNvSpPr txBox="1"/>
          <p:nvPr>
            <p:ph idx="1" type="body"/>
          </p:nvPr>
        </p:nvSpPr>
        <p:spPr>
          <a:xfrm>
            <a:off x="2629200" y="4987325"/>
            <a:ext cx="3885600" cy="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lt1"/>
                </a:solidFill>
              </a:rPr>
              <a:t>Рисунок -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Проведение исследования</a:t>
            </a:r>
            <a:endParaRPr/>
          </a:p>
        </p:txBody>
      </p:sp>
      <p:sp>
        <p:nvSpPr>
          <p:cNvPr id="213" name="Google Shape;213;p30"/>
          <p:cNvSpPr txBox="1"/>
          <p:nvPr>
            <p:ph idx="1" type="body"/>
          </p:nvPr>
        </p:nvSpPr>
        <p:spPr>
          <a:xfrm>
            <a:off x="311700" y="2431403"/>
            <a:ext cx="8520600" cy="27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solidFill>
                  <a:schemeClr val="dk1"/>
                </a:solidFill>
              </a:rPr>
              <a:t>Эксперименты проводились на персональном компьютере со следующими характеристиками: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solidFill>
                  <a:schemeClr val="dk1"/>
                </a:solidFill>
              </a:rPr>
              <a:t>Процессор</a:t>
            </a:r>
            <a:r>
              <a:rPr lang="ru-RU">
                <a:solidFill>
                  <a:schemeClr val="dk1"/>
                </a:solidFill>
              </a:rPr>
              <a:t>: Apple M1, 3.2 ГГц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solidFill>
                  <a:schemeClr val="dk1"/>
                </a:solidFill>
              </a:rPr>
              <a:t>Оперативная память</a:t>
            </a:r>
            <a:r>
              <a:rPr lang="ru-RU">
                <a:solidFill>
                  <a:schemeClr val="dk1"/>
                </a:solidFill>
              </a:rPr>
              <a:t>: 8 ГБ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solidFill>
                  <a:schemeClr val="dk1"/>
                </a:solidFill>
              </a:rPr>
              <a:t>Операционная система</a:t>
            </a:r>
            <a:r>
              <a:rPr lang="ru-RU">
                <a:solidFill>
                  <a:schemeClr val="dk1"/>
                </a:solidFill>
              </a:rPr>
              <a:t>: macOS 15.3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solidFill>
                  <a:schemeClr val="dk1"/>
                </a:solidFill>
              </a:rPr>
              <a:t>Среда исполнения</a:t>
            </a:r>
            <a:r>
              <a:rPr lang="ru-RU">
                <a:solidFill>
                  <a:schemeClr val="dk1"/>
                </a:solidFill>
              </a:rPr>
              <a:t>: Python 3.12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3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1"/>
          <p:cNvSpPr txBox="1"/>
          <p:nvPr>
            <p:ph type="title"/>
          </p:nvPr>
        </p:nvSpPr>
        <p:spPr>
          <a:xfrm>
            <a:off x="311700" y="28781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Генерация тестовых данных</a:t>
            </a:r>
            <a:endParaRPr/>
          </a:p>
        </p:txBody>
      </p:sp>
      <p:sp>
        <p:nvSpPr>
          <p:cNvPr id="220" name="Google Shape;220;p31"/>
          <p:cNvSpPr txBox="1"/>
          <p:nvPr>
            <p:ph idx="1" type="body"/>
          </p:nvPr>
        </p:nvSpPr>
        <p:spPr>
          <a:xfrm>
            <a:off x="311700" y="1151408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</a:rPr>
              <a:t>Наборы тестовых данных генерировались с помощью программы.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</a:rPr>
              <a:t>Равномерное распределение при генерации оценок кандидатов не подходит, потому что приводит к вырождению у.м. в антицепь. Следовательно, большинство кандидатов становятся несравнимыми — проводить ранжирование нецелесообразно.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</a:rPr>
              <a:t>Разработанная схема генерации оценок для кандидатов: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R"/>
            </a:pPr>
            <a:r>
              <a:rPr lang="ru-RU">
                <a:solidFill>
                  <a:schemeClr val="dk1"/>
                </a:solidFill>
              </a:rPr>
              <a:t>У каждого кандидата есть скрытая переменная (</a:t>
            </a:r>
            <a:r>
              <a:rPr lang="ru-RU">
                <a:solidFill>
                  <a:schemeClr val="dk1"/>
                </a:solidFill>
              </a:rPr>
              <a:t>𝛩</a:t>
            </a:r>
            <a:r>
              <a:rPr lang="ru-RU">
                <a:solidFill>
                  <a:schemeClr val="dk1"/>
                </a:solidFill>
              </a:rPr>
              <a:t> ∈ [0, 1])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R"/>
            </a:pPr>
            <a:r>
              <a:rPr lang="ru-RU">
                <a:solidFill>
                  <a:schemeClr val="dk1"/>
                </a:solidFill>
              </a:rPr>
              <a:t>На основе </a:t>
            </a:r>
            <a:r>
              <a:rPr lang="ru-RU">
                <a:solidFill>
                  <a:schemeClr val="dk1"/>
                </a:solidFill>
              </a:rPr>
              <a:t>𝛩 рассчитывается базовый балл кандидата </a:t>
            </a:r>
            <a:r>
              <a:rPr i="1" lang="ru-RU">
                <a:solidFill>
                  <a:schemeClr val="dk1"/>
                </a:solidFill>
              </a:rPr>
              <a:t>S</a:t>
            </a:r>
            <a:r>
              <a:rPr baseline="-25000" i="1" lang="ru-RU">
                <a:solidFill>
                  <a:schemeClr val="dk1"/>
                </a:solidFill>
              </a:rPr>
              <a:t>base</a:t>
            </a:r>
            <a:r>
              <a:rPr lang="ru-RU">
                <a:solidFill>
                  <a:schemeClr val="dk1"/>
                </a:solidFill>
              </a:rPr>
              <a:t>∈ [2, 9] — это поможет выделить наиболее и наименее подходящего кандидата.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R"/>
            </a:pPr>
            <a:r>
              <a:rPr lang="ru-RU">
                <a:solidFill>
                  <a:schemeClr val="dk1"/>
                </a:solidFill>
              </a:rPr>
              <a:t>Итоговая оценка - сумма базового балла и случайной величины, распределенной по нормальному закону.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</a:rPr>
              <a:t>Таким образом, оценки будут сконцентрированы вокруг базового балла </a:t>
            </a:r>
            <a:r>
              <a:rPr i="1" lang="ru-RU">
                <a:solidFill>
                  <a:schemeClr val="dk1"/>
                </a:solidFill>
              </a:rPr>
              <a:t>S</a:t>
            </a:r>
            <a:r>
              <a:rPr baseline="-25000" i="1" lang="ru-RU">
                <a:solidFill>
                  <a:schemeClr val="dk1"/>
                </a:solidFill>
              </a:rPr>
              <a:t>base</a:t>
            </a:r>
            <a:r>
              <a:rPr i="1" lang="ru-RU">
                <a:solidFill>
                  <a:schemeClr val="dk1"/>
                </a:solidFill>
              </a:rPr>
              <a:t>, </a:t>
            </a:r>
            <a:r>
              <a:rPr lang="ru-RU">
                <a:solidFill>
                  <a:schemeClr val="dk1"/>
                </a:solidFill>
              </a:rPr>
              <a:t>а несравнимость будет возникать только между кандидатами со схожим уровнем квалификации.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1" name="Google Shape;221;p3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2"/>
          <p:cNvSpPr txBox="1"/>
          <p:nvPr>
            <p:ph type="title"/>
          </p:nvPr>
        </p:nvSpPr>
        <p:spPr>
          <a:xfrm>
            <a:off x="311700" y="325500"/>
            <a:ext cx="86460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Исследование алгоритма. Зависимость алгоритма от числа критериев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28" name="Google Shape;22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125" y="1707725"/>
            <a:ext cx="7327150" cy="45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2"/>
          <p:cNvSpPr txBox="1"/>
          <p:nvPr>
            <p:ph idx="1" type="body"/>
          </p:nvPr>
        </p:nvSpPr>
        <p:spPr>
          <a:xfrm>
            <a:off x="3015225" y="6217625"/>
            <a:ext cx="3885600" cy="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lt1"/>
                </a:solidFill>
              </a:rPr>
              <a:t>Рисунок -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3"/>
          <p:cNvSpPr txBox="1"/>
          <p:nvPr>
            <p:ph type="title"/>
          </p:nvPr>
        </p:nvSpPr>
        <p:spPr>
          <a:xfrm>
            <a:off x="311850" y="268225"/>
            <a:ext cx="87093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Исследование алгоритма. Комплексное увеличение</a:t>
            </a:r>
            <a:endParaRPr/>
          </a:p>
        </p:txBody>
      </p:sp>
      <p:sp>
        <p:nvSpPr>
          <p:cNvPr id="235" name="Google Shape;235;p3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36" name="Google Shape;23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3450" y="1354050"/>
            <a:ext cx="7429500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3"/>
          <p:cNvSpPr txBox="1"/>
          <p:nvPr/>
        </p:nvSpPr>
        <p:spPr>
          <a:xfrm>
            <a:off x="2737875" y="6217625"/>
            <a:ext cx="6877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chemeClr val="lt1"/>
                </a:solidFill>
              </a:rPr>
              <a:t>Рисунок 11 - </a:t>
            </a:r>
            <a:endParaRPr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